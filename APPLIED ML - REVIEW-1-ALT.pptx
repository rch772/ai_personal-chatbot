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2"/>
  </p:notesMasterIdLst>
  <p:sldIdLst>
    <p:sldId id="256" r:id="rId3"/>
    <p:sldId id="257" r:id="rId4"/>
    <p:sldId id="258" r:id="rId5"/>
    <p:sldId id="259" r:id="rId6"/>
    <p:sldId id="266" r:id="rId7"/>
    <p:sldId id="267" r:id="rId8"/>
    <p:sldId id="269" r:id="rId9"/>
    <p:sldId id="268" r:id="rId10"/>
    <p:sldId id="265" r:id="rId11"/>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18-08-2026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18-08-2026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18-08-2026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18-08-2026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18-08-2026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18-08-2026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1702"/>
            <a:ext cx="10515600" cy="908175"/>
          </a:xfrm>
        </p:spPr>
        <p:txBody>
          <a:bodyPr>
            <a:noAutofit/>
          </a:bodyPr>
          <a:lstStyle/>
          <a:p>
            <a:pPr algn="ctr">
              <a:lnSpc>
                <a:spcPct val="100000"/>
              </a:lnSpc>
            </a:pPr>
            <a:br>
              <a:rPr lang="da-DK" sz="2400" b="1" dirty="0">
                <a:latin typeface="Times New Roman" panose="02020603050405020304" pitchFamily="18" charset="0"/>
                <a:cs typeface="Times New Roman" panose="02020603050405020304" pitchFamily="18" charset="0"/>
              </a:rPr>
            </a:br>
            <a:r>
              <a:rPr lang="da-DK" sz="2400" b="1" dirty="0">
                <a:solidFill>
                  <a:srgbClr val="00B050"/>
                </a:solidFill>
                <a:latin typeface="Times New Roman" panose="02020603050405020304" pitchFamily="18" charset="0"/>
                <a:cs typeface="Times New Roman" panose="02020603050405020304" pitchFamily="18" charset="0"/>
              </a:rPr>
              <a:t>APPLIED MACHINE LEARNING FOR TEXT ANALYTICS (</a:t>
            </a:r>
            <a:r>
              <a:rPr lang="en-US" sz="2400" b="1" cap="all" dirty="0">
                <a:ln/>
                <a:solidFill>
                  <a:srgbClr val="00B050"/>
                </a:solidFill>
                <a:latin typeface="Calibri"/>
                <a:cs typeface="Poppins" panose="00000500000000000000" pitchFamily="2" charset="0"/>
                <a:sym typeface="BioRhyme ExtraBold"/>
              </a:rPr>
              <a:t>24ALT3101)</a:t>
            </a:r>
            <a:br>
              <a:rPr lang="en-US" sz="2400" b="1" cap="all" dirty="0">
                <a:ln/>
                <a:solidFill>
                  <a:srgbClr val="00B050"/>
                </a:solidFill>
                <a:latin typeface="Calibri"/>
                <a:cs typeface="Poppins" panose="00000500000000000000" pitchFamily="2" charset="0"/>
                <a:sym typeface="BioRhyme ExtraBold"/>
              </a:rPr>
            </a:br>
            <a:r>
              <a:rPr lang="en-US" sz="2400" b="1" dirty="0">
                <a:solidFill>
                  <a:srgbClr val="00B050"/>
                </a:solidFill>
                <a:latin typeface="Times New Roman" panose="02020603050405020304" pitchFamily="18" charset="0"/>
                <a:cs typeface="Times New Roman" panose="02020603050405020304" pitchFamily="18" charset="0"/>
              </a:rPr>
              <a:t>REVIEW – 1</a:t>
            </a:r>
            <a:br>
              <a:rPr lang="en-US" sz="2400" b="1" dirty="0">
                <a:solidFill>
                  <a:srgbClr val="00B050"/>
                </a:solidFill>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Project Title</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60834" y="2014815"/>
            <a:ext cx="10506683" cy="908174"/>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Fine-Tuned Cross-Lingual Transformer for Multilingual Cyber Threat Intelligence</a:t>
            </a:r>
          </a:p>
          <a:p>
            <a:pPr marL="0" indent="0" algn="ctr">
              <a:buNone/>
            </a:pPr>
            <a:r>
              <a:rPr lang="en-IN" sz="2000" b="1" dirty="0"/>
              <a:t>Team No-21</a:t>
            </a:r>
          </a:p>
          <a:p>
            <a:pPr marL="0" indent="0" algn="ctr">
              <a:buNone/>
            </a:pPr>
            <a:r>
              <a:rPr lang="en-IN" sz="2000" b="1" dirty="0"/>
              <a:t>Roll No		Name</a:t>
            </a:r>
            <a:endParaRPr lang="en-US"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18-08-2026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rgbClr val="00B050"/>
                </a:solidFill>
              </a:rPr>
              <a:t>2420030673         </a:t>
            </a:r>
            <a:r>
              <a:rPr lang="en-US" sz="2400" dirty="0" err="1">
                <a:solidFill>
                  <a:srgbClr val="00B050"/>
                </a:solidFill>
              </a:rPr>
              <a:t>M.Jathin</a:t>
            </a:r>
            <a:endParaRPr lang="en-US" sz="2400" dirty="0">
              <a:solidFill>
                <a:srgbClr val="00B050"/>
              </a:solidFill>
            </a:endParaRPr>
          </a:p>
          <a:p>
            <a:pPr marL="0" indent="0" algn="ctr">
              <a:buNone/>
            </a:pPr>
            <a:r>
              <a:rPr lang="en-US" sz="2400" dirty="0">
                <a:solidFill>
                  <a:srgbClr val="00B050"/>
                </a:solidFill>
              </a:rPr>
              <a:t>2420030772           Roshan</a:t>
            </a:r>
          </a:p>
          <a:p>
            <a:pPr marL="0" indent="0" algn="ctr">
              <a:buNone/>
            </a:pPr>
            <a:r>
              <a:rPr lang="en-US" sz="2400" dirty="0">
                <a:solidFill>
                  <a:srgbClr val="00B050"/>
                </a:solidFill>
              </a:rPr>
              <a:t>2420030270    </a:t>
            </a:r>
            <a:r>
              <a:rPr lang="en-US" sz="2400" dirty="0" err="1">
                <a:solidFill>
                  <a:srgbClr val="00B050"/>
                </a:solidFill>
              </a:rPr>
              <a:t>B.Devendar</a:t>
            </a: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b="1" dirty="0">
                <a:solidFill>
                  <a:schemeClr val="accent4"/>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endParaRPr lang="en-IN"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IN" sz="2000" dirty="0">
                <a:latin typeface="Times New Roman" panose="02020603050405020304" pitchFamily="18" charset="0"/>
                <a:cs typeface="Times New Roman" panose="02020603050405020304" pitchFamily="18" charset="0"/>
              </a:rPr>
              <a:t>Cybersecurity teams receive large volumes of unstructured threat reports containing information about malware, threat actors, vulnerabilities, and </a:t>
            </a:r>
            <a:r>
              <a:rPr lang="en-IN" sz="2000" dirty="0" err="1">
                <a:latin typeface="Times New Roman" panose="02020603050405020304" pitchFamily="18" charset="0"/>
                <a:cs typeface="Times New Roman" panose="02020603050405020304" pitchFamily="18" charset="0"/>
              </a:rPr>
              <a:t>IoCs</a:t>
            </a:r>
            <a:r>
              <a:rPr lang="en-IN" sz="2000" dirty="0">
                <a:latin typeface="Times New Roman" panose="02020603050405020304" pitchFamily="18" charset="0"/>
                <a:cs typeface="Times New Roman" panose="02020603050405020304" pitchFamily="18" charset="0"/>
              </a:rPr>
              <a:t> in multiple languages. Manually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these reports is time-consuming, while existing NLP systems often struggle with cybersecurity-specific, multilingual, and code-mixed text. </a:t>
            </a:r>
          </a:p>
          <a:p>
            <a:pPr marL="0" indent="0" eaLnBrk="0" fontAlgn="base" hangingPunct="0">
              <a:lnSpc>
                <a:spcPct val="100000"/>
              </a:lnSpc>
              <a:spcBef>
                <a:spcPct val="0"/>
              </a:spcBef>
              <a:spcAft>
                <a:spcPct val="0"/>
              </a:spcAft>
              <a:buNone/>
            </a:pPr>
            <a:endParaRPr lang="en-IN" sz="20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IN" sz="20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IN" sz="20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CyberGraph</a:t>
            </a:r>
            <a:r>
              <a:rPr lang="en-IN" sz="2000" b="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addresses this problem by using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b="1" dirty="0">
                <a:latin typeface="Times New Roman" panose="02020603050405020304" pitchFamily="18" charset="0"/>
                <a:cs typeface="Times New Roman" panose="02020603050405020304" pitchFamily="18" charset="0"/>
              </a:rPr>
              <a:t>, Named Entity Recognition, relation extraction, and Neo4j knowledge graphs</a:t>
            </a:r>
            <a:r>
              <a:rPr lang="en-IN" sz="2000" dirty="0">
                <a:latin typeface="Times New Roman" panose="02020603050405020304" pitchFamily="18" charset="0"/>
                <a:cs typeface="Times New Roman" panose="02020603050405020304" pitchFamily="18" charset="0"/>
              </a:rPr>
              <a:t> to automatically extract, connect, and visualize cyber threat information. The system helps </a:t>
            </a:r>
            <a:r>
              <a:rPr lang="en-IN" sz="2000" b="1" dirty="0">
                <a:latin typeface="Times New Roman" panose="02020603050405020304" pitchFamily="18" charset="0"/>
                <a:cs typeface="Times New Roman" panose="02020603050405020304" pitchFamily="18" charset="0"/>
              </a:rPr>
              <a:t>SOC analysts and cybersecurity teams</a:t>
            </a:r>
            <a:r>
              <a:rPr lang="en-IN" sz="2000" dirty="0">
                <a:latin typeface="Times New Roman" panose="02020603050405020304" pitchFamily="18" charset="0"/>
                <a:cs typeface="Times New Roman" panose="02020603050405020304" pitchFamily="18" charset="0"/>
              </a:rPr>
              <a:t> identify threats, discover relationships,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attack campaigns more efficiently.</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88694"/>
            <a:ext cx="10515600" cy="3593431"/>
          </a:xfrm>
        </p:spPr>
        <p:txBody>
          <a:bodyPr>
            <a:normAutofit/>
          </a:bodyPr>
          <a:lstStyle/>
          <a:p>
            <a:pPr lvl="0"/>
            <a:r>
              <a:rPr lang="en-IN" sz="2000" dirty="0">
                <a:latin typeface="Times New Roman" panose="02020603050405020304" pitchFamily="18" charset="0"/>
                <a:cs typeface="Times New Roman" panose="02020603050405020304" pitchFamily="18" charset="0"/>
              </a:rPr>
              <a:t>Develop a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b="1" dirty="0">
                <a:latin typeface="Times New Roman" panose="02020603050405020304" pitchFamily="18" charset="0"/>
                <a:cs typeface="Times New Roman" panose="02020603050405020304" pitchFamily="18" charset="0"/>
              </a:rPr>
              <a:t> model</a:t>
            </a:r>
            <a:r>
              <a:rPr lang="en-IN" sz="2000" dirty="0">
                <a:latin typeface="Times New Roman" panose="02020603050405020304" pitchFamily="18" charset="0"/>
                <a:cs typeface="Times New Roman" panose="02020603050405020304" pitchFamily="18" charset="0"/>
              </a:rPr>
              <a:t> for multilingual and code-mixed cybersecurity text. </a:t>
            </a:r>
          </a:p>
          <a:p>
            <a:pPr lvl="0"/>
            <a:r>
              <a:rPr lang="en-IN" sz="2000" dirty="0">
                <a:latin typeface="Times New Roman" panose="02020603050405020304" pitchFamily="18" charset="0"/>
                <a:cs typeface="Times New Roman" panose="02020603050405020304" pitchFamily="18" charset="0"/>
              </a:rPr>
              <a:t>Identify </a:t>
            </a:r>
            <a:r>
              <a:rPr lang="en-IN" sz="2000" b="1" dirty="0">
                <a:latin typeface="Times New Roman" panose="02020603050405020304" pitchFamily="18" charset="0"/>
                <a:cs typeface="Times New Roman" panose="02020603050405020304" pitchFamily="18" charset="0"/>
              </a:rPr>
              <a:t>Threat Actors, Malware, CVEs, IPs, Domains, and </a:t>
            </a:r>
            <a:r>
              <a:rPr lang="en-IN" sz="2000" b="1" dirty="0" err="1">
                <a:latin typeface="Times New Roman" panose="02020603050405020304" pitchFamily="18" charset="0"/>
                <a:cs typeface="Times New Roman" panose="02020603050405020304" pitchFamily="18" charset="0"/>
              </a:rPr>
              <a:t>IoCs</a:t>
            </a:r>
            <a:r>
              <a:rPr lang="en-IN" sz="2000" dirty="0">
                <a:latin typeface="Times New Roman" panose="02020603050405020304" pitchFamily="18" charset="0"/>
                <a:cs typeface="Times New Roman" panose="02020603050405020304" pitchFamily="18" charset="0"/>
              </a:rPr>
              <a:t> using NER. </a:t>
            </a:r>
          </a:p>
          <a:p>
            <a:pPr lvl="0"/>
            <a:r>
              <a:rPr lang="en-IN" sz="2000" dirty="0">
                <a:latin typeface="Times New Roman" panose="02020603050405020304" pitchFamily="18" charset="0"/>
                <a:cs typeface="Times New Roman" panose="02020603050405020304" pitchFamily="18" charset="0"/>
              </a:rPr>
              <a:t>Extract relationships between cybersecurity entities using </a:t>
            </a:r>
            <a:r>
              <a:rPr lang="en-IN" sz="2000" b="1" dirty="0">
                <a:latin typeface="Times New Roman" panose="02020603050405020304" pitchFamily="18" charset="0"/>
                <a:cs typeface="Times New Roman" panose="02020603050405020304" pitchFamily="18" charset="0"/>
              </a:rPr>
              <a:t>Relation Extraction</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Build a </a:t>
            </a:r>
            <a:r>
              <a:rPr lang="en-IN" sz="2000" b="1" dirty="0">
                <a:latin typeface="Times New Roman" panose="02020603050405020304" pitchFamily="18" charset="0"/>
                <a:cs typeface="Times New Roman" panose="02020603050405020304" pitchFamily="18" charset="0"/>
              </a:rPr>
              <a:t>Neo4j Knowledge Graph</a:t>
            </a:r>
            <a:r>
              <a:rPr lang="en-IN" sz="2000" dirty="0">
                <a:latin typeface="Times New Roman" panose="02020603050405020304" pitchFamily="18" charset="0"/>
                <a:cs typeface="Times New Roman" panose="02020603050405020304" pitchFamily="18" charset="0"/>
              </a:rPr>
              <a:t> to connect and visualize threats. </a:t>
            </a:r>
          </a:p>
          <a:p>
            <a:pPr lvl="0"/>
            <a:r>
              <a:rPr lang="en-IN" sz="2000" dirty="0">
                <a:latin typeface="Times New Roman" panose="02020603050405020304" pitchFamily="18" charset="0"/>
                <a:cs typeface="Times New Roman" panose="02020603050405020304" pitchFamily="18" charset="0"/>
              </a:rPr>
              <a:t>Detect and correlate </a:t>
            </a:r>
            <a:r>
              <a:rPr lang="en-IN" sz="2000" b="1" dirty="0">
                <a:latin typeface="Times New Roman" panose="02020603050405020304" pitchFamily="18" charset="0"/>
                <a:cs typeface="Times New Roman" panose="02020603050405020304" pitchFamily="18" charset="0"/>
              </a:rPr>
              <a:t>similar attack campaigns</a:t>
            </a:r>
            <a:r>
              <a:rPr lang="en-IN" sz="2000" dirty="0">
                <a:latin typeface="Times New Roman" panose="02020603050405020304" pitchFamily="18" charset="0"/>
                <a:cs typeface="Times New Roman" panose="02020603050405020304" pitchFamily="18" charset="0"/>
              </a:rPr>
              <a:t> across different reports and languages. </a:t>
            </a:r>
          </a:p>
          <a:p>
            <a:pPr lvl="0"/>
            <a:r>
              <a:rPr lang="en-IN" sz="2000" dirty="0">
                <a:latin typeface="Times New Roman" panose="02020603050405020304" pitchFamily="18" charset="0"/>
                <a:cs typeface="Times New Roman" panose="02020603050405020304" pitchFamily="18" charset="0"/>
              </a:rPr>
              <a:t>Map extracted threats to </a:t>
            </a:r>
            <a:r>
              <a:rPr lang="en-IN" sz="2000" b="1" dirty="0">
                <a:latin typeface="Times New Roman" panose="02020603050405020304" pitchFamily="18" charset="0"/>
                <a:cs typeface="Times New Roman" panose="02020603050405020304" pitchFamily="18" charset="0"/>
              </a:rPr>
              <a:t>MITRE ATT&amp;CK techniques</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Generate a </a:t>
            </a:r>
            <a:r>
              <a:rPr lang="en-IN" sz="2000" b="1" dirty="0">
                <a:latin typeface="Times New Roman" panose="02020603050405020304" pitchFamily="18" charset="0"/>
                <a:cs typeface="Times New Roman" panose="02020603050405020304" pitchFamily="18" charset="0"/>
              </a:rPr>
              <a:t>threat severity score</a:t>
            </a:r>
            <a:r>
              <a:rPr lang="en-IN" sz="2000" dirty="0">
                <a:latin typeface="Times New Roman" panose="02020603050405020304" pitchFamily="18" charset="0"/>
                <a:cs typeface="Times New Roman" panose="02020603050405020304" pitchFamily="18" charset="0"/>
              </a:rPr>
              <a:t> based on extracted intelligence. </a:t>
            </a:r>
          </a:p>
          <a:p>
            <a:pPr lvl="0"/>
            <a:r>
              <a:rPr lang="en-IN" sz="2000" dirty="0">
                <a:latin typeface="Times New Roman" panose="02020603050405020304" pitchFamily="18" charset="0"/>
                <a:cs typeface="Times New Roman" panose="02020603050405020304" pitchFamily="18" charset="0"/>
              </a:rPr>
              <a:t>Evaluate the model using </a:t>
            </a:r>
            <a:r>
              <a:rPr lang="en-IN" sz="2000" b="1" dirty="0">
                <a:latin typeface="Times New Roman" panose="02020603050405020304" pitchFamily="18" charset="0"/>
                <a:cs typeface="Times New Roman" panose="02020603050405020304" pitchFamily="18" charset="0"/>
              </a:rPr>
              <a:t>Precision, Recall, and F1-Score</a:t>
            </a:r>
            <a:r>
              <a:rPr lang="en-IN" sz="2000" dirty="0">
                <a:latin typeface="Times New Roman" panose="02020603050405020304" pitchFamily="18" charset="0"/>
                <a:cs typeface="Times New Roman" panose="02020603050405020304" pitchFamily="18" charset="0"/>
              </a:rPr>
              <a:t>.</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3998495" y="6127750"/>
            <a:ext cx="4114800" cy="365125"/>
          </a:xfrm>
        </p:spPr>
        <p:txBody>
          <a:bodyPr/>
          <a:lstStyle/>
          <a:p>
            <a:r>
              <a:rPr lang="en-US" dirty="0"/>
              <a:t>REVIEW – 2    </a:t>
            </a:r>
          </a:p>
        </p:txBody>
      </p:sp>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0C01-8215-25E0-B516-B33CB457EA1C}"/>
              </a:ext>
            </a:extLst>
          </p:cNvPr>
          <p:cNvSpPr>
            <a:spLocks noGrp="1"/>
          </p:cNvSpPr>
          <p:nvPr>
            <p:ph type="title"/>
          </p:nvPr>
        </p:nvSpPr>
        <p:spPr/>
        <p:txBody>
          <a:bodyPr>
            <a:normAutofit fontScale="90000"/>
          </a:bodyPr>
          <a:lstStyle/>
          <a:p>
            <a:br>
              <a:rPr lang="en-IN" sz="3500" dirty="0">
                <a:latin typeface="Times New Roman" panose="02020603050405020304" pitchFamily="18" charset="0"/>
                <a:cs typeface="Times New Roman" panose="02020603050405020304" pitchFamily="18" charset="0"/>
              </a:rPr>
            </a:br>
            <a:r>
              <a:rPr lang="en-IN" sz="3500" dirty="0">
                <a:latin typeface="Times New Roman" panose="02020603050405020304" pitchFamily="18" charset="0"/>
                <a:cs typeface="Times New Roman" panose="02020603050405020304" pitchFamily="18" charset="0"/>
              </a:rPr>
              <a:t>Literature Survey</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B82C039-5D4A-CCB2-62FB-1B26ED5BF1A6}"/>
              </a:ext>
            </a:extLst>
          </p:cNvPr>
          <p:cNvSpPr>
            <a:spLocks noGrp="1"/>
          </p:cNvSpPr>
          <p:nvPr>
            <p:ph idx="1"/>
          </p:nvPr>
        </p:nvSpPr>
        <p:spPr>
          <a:xfrm>
            <a:off x="838200" y="1690687"/>
            <a:ext cx="10515600" cy="4486275"/>
          </a:xfrm>
        </p:spPr>
        <p:txBody>
          <a:bodyPr>
            <a:normAutofit/>
          </a:bodyPr>
          <a:lstStyle/>
          <a:p>
            <a:pPr lvl="0"/>
            <a:r>
              <a:rPr lang="en-IN" sz="2000" b="1" dirty="0">
                <a:latin typeface="Times New Roman" panose="02020603050405020304" pitchFamily="18" charset="0"/>
                <a:cs typeface="Times New Roman" panose="02020603050405020304" pitchFamily="18" charset="0"/>
              </a:rPr>
              <a:t>NLP for Cyber Threat Intelligence:</a:t>
            </a:r>
            <a:r>
              <a:rPr lang="en-IN" sz="2000" dirty="0">
                <a:latin typeface="Times New Roman" panose="02020603050405020304" pitchFamily="18" charset="0"/>
                <a:cs typeface="Times New Roman" panose="02020603050405020304" pitchFamily="18" charset="0"/>
              </a:rPr>
              <a:t> Recent research shows that NLP can automate the extraction of useful information from large volumes of unstructured cybersecurity reports, including entities, relationships, and attack information. However, challenges remain in handling noisy and domain-specific cybersecurity language. </a:t>
            </a:r>
          </a:p>
          <a:p>
            <a:pPr lvl="0"/>
            <a:r>
              <a:rPr lang="en-IN" sz="2000" b="1" dirty="0">
                <a:latin typeface="Times New Roman" panose="02020603050405020304" pitchFamily="18" charset="0"/>
                <a:cs typeface="Times New Roman" panose="02020603050405020304" pitchFamily="18" charset="0"/>
              </a:rPr>
              <a:t>Cybersecurity NER:</a:t>
            </a: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MalwareTextDB</a:t>
            </a:r>
            <a:r>
              <a:rPr lang="en-IN" sz="2000" dirty="0">
                <a:latin typeface="Times New Roman" panose="02020603050405020304" pitchFamily="18" charset="0"/>
                <a:cs typeface="Times New Roman" panose="02020603050405020304" pitchFamily="18" charset="0"/>
              </a:rPr>
              <a:t> demonstrated the use of annotated malware reports for cybersecurity text analytics and NER, providing 39 APT reports with 6,819 annotated sentences. </a:t>
            </a:r>
          </a:p>
          <a:p>
            <a:pPr lvl="0"/>
            <a:r>
              <a:rPr lang="en-IN" sz="2000" b="1" dirty="0">
                <a:latin typeface="Times New Roman" panose="02020603050405020304" pitchFamily="18" charset="0"/>
                <a:cs typeface="Times New Roman" panose="02020603050405020304" pitchFamily="18" charset="0"/>
              </a:rPr>
              <a:t>Entity &amp; Relation Extraction:</a:t>
            </a:r>
            <a:r>
              <a:rPr lang="en-IN" sz="2000" dirty="0">
                <a:latin typeface="Times New Roman" panose="02020603050405020304" pitchFamily="18" charset="0"/>
                <a:cs typeface="Times New Roman" panose="02020603050405020304" pitchFamily="18" charset="0"/>
              </a:rPr>
              <a:t> Recent approaches such as </a:t>
            </a:r>
            <a:r>
              <a:rPr lang="en-IN" sz="2000" b="1" dirty="0" err="1">
                <a:latin typeface="Times New Roman" panose="02020603050405020304" pitchFamily="18" charset="0"/>
                <a:cs typeface="Times New Roman" panose="02020603050405020304" pitchFamily="18" charset="0"/>
              </a:rPr>
              <a:t>KnowCTI</a:t>
            </a:r>
            <a:r>
              <a:rPr lang="en-IN" sz="2000" dirty="0">
                <a:latin typeface="Times New Roman" panose="02020603050405020304" pitchFamily="18" charset="0"/>
                <a:cs typeface="Times New Roman" panose="02020603050405020304" pitchFamily="18" charset="0"/>
              </a:rPr>
              <a:t> and </a:t>
            </a:r>
            <a:r>
              <a:rPr lang="en-IN" sz="2000" b="1" dirty="0" err="1">
                <a:latin typeface="Times New Roman" panose="02020603050405020304" pitchFamily="18" charset="0"/>
                <a:cs typeface="Times New Roman" panose="02020603050405020304" pitchFamily="18" charset="0"/>
              </a:rPr>
              <a:t>CyberEntRel</a:t>
            </a:r>
            <a:r>
              <a:rPr lang="en-IN" sz="2000" dirty="0">
                <a:latin typeface="Times New Roman" panose="02020603050405020304" pitchFamily="18" charset="0"/>
                <a:cs typeface="Times New Roman" panose="02020603050405020304" pitchFamily="18" charset="0"/>
              </a:rPr>
              <a:t> combine deep learning with entity and relation extraction to create structured threat intelligence and knowledge graphs. These works show that identifying relationships between threat actors, malware, vulnerabilities, and attacks provides more useful intelligence than entity extraction alone. </a:t>
            </a:r>
          </a:p>
          <a:p>
            <a:pPr lvl="0"/>
            <a:r>
              <a:rPr lang="en-IN" sz="2000" b="1" dirty="0">
                <a:latin typeface="Times New Roman" panose="02020603050405020304" pitchFamily="18" charset="0"/>
                <a:cs typeface="Times New Roman" panose="02020603050405020304" pitchFamily="18" charset="0"/>
              </a:rPr>
              <a:t>Knowledge Graphs:</a:t>
            </a:r>
            <a:r>
              <a:rPr lang="en-IN" sz="2000" dirty="0">
                <a:latin typeface="Times New Roman" panose="02020603050405020304" pitchFamily="18" charset="0"/>
                <a:cs typeface="Times New Roman" panose="02020603050405020304" pitchFamily="18" charset="0"/>
              </a:rPr>
              <a:t> Research shows that cybersecurity knowledge graphs can integrate heterogeneous CTI sources and support threat correlation, visualization, and reasoning.</a:t>
            </a:r>
          </a:p>
          <a:p>
            <a:endParaRPr lang="en-IN" dirty="0"/>
          </a:p>
        </p:txBody>
      </p:sp>
      <p:sp>
        <p:nvSpPr>
          <p:cNvPr id="4" name="Date Placeholder 3">
            <a:extLst>
              <a:ext uri="{FF2B5EF4-FFF2-40B4-BE49-F238E27FC236}">
                <a16:creationId xmlns:a16="http://schemas.microsoft.com/office/drawing/2014/main" id="{25E36A8C-39E0-ED85-8189-A41CF9E55BAD}"/>
              </a:ext>
            </a:extLst>
          </p:cNvPr>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a:extLst>
              <a:ext uri="{FF2B5EF4-FFF2-40B4-BE49-F238E27FC236}">
                <a16:creationId xmlns:a16="http://schemas.microsoft.com/office/drawing/2014/main" id="{EE4CDE1A-4A2B-B17F-A6E0-D76D9770A9BF}"/>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ABCBDCD-914E-8073-E2BE-C216B3913C02}"/>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109539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9502-3F56-C0ED-CBAD-951274EF0B6A}"/>
              </a:ext>
            </a:extLst>
          </p:cNvPr>
          <p:cNvSpPr>
            <a:spLocks noGrp="1"/>
          </p:cNvSpPr>
          <p:nvPr>
            <p:ph type="title"/>
          </p:nvPr>
        </p:nvSpPr>
        <p:spPr/>
        <p:txBody>
          <a:bodyPr>
            <a:normAutofit fontScale="90000"/>
          </a:bodyPr>
          <a:lstStyle/>
          <a:p>
            <a:br>
              <a:rPr lang="en-IN" sz="3500" dirty="0">
                <a:latin typeface="Times New Roman" panose="02020603050405020304" pitchFamily="18" charset="0"/>
                <a:cs typeface="Times New Roman" panose="02020603050405020304" pitchFamily="18" charset="0"/>
              </a:rPr>
            </a:br>
            <a:r>
              <a:rPr lang="en-IN" sz="3500" dirty="0">
                <a:latin typeface="Times New Roman" panose="02020603050405020304" pitchFamily="18" charset="0"/>
                <a:cs typeface="Times New Roman" panose="02020603050405020304" pitchFamily="18" charset="0"/>
              </a:rPr>
              <a:t>Proposed Method</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E0FA322-F413-3FAE-74F3-12A6530B0A39}"/>
              </a:ext>
            </a:extLst>
          </p:cNvPr>
          <p:cNvSpPr>
            <a:spLocks noGrp="1"/>
          </p:cNvSpPr>
          <p:nvPr>
            <p:ph idx="1"/>
          </p:nvPr>
        </p:nvSpPr>
        <p:spPr>
          <a:xfrm>
            <a:off x="838200" y="1825625"/>
            <a:ext cx="10515600" cy="4430796"/>
          </a:xfrm>
        </p:spPr>
        <p:txBody>
          <a:bodyPr/>
          <a:lstStyle/>
          <a:p>
            <a:r>
              <a:rPr lang="en-IN" sz="2000" dirty="0">
                <a:latin typeface="Times New Roman" panose="02020603050405020304" pitchFamily="18" charset="0"/>
                <a:cs typeface="Times New Roman" panose="02020603050405020304" pitchFamily="18" charset="0"/>
              </a:rPr>
              <a:t>The proposed </a:t>
            </a:r>
            <a:r>
              <a:rPr lang="en-IN" sz="2000" b="1" dirty="0" err="1">
                <a:latin typeface="Times New Roman" panose="02020603050405020304" pitchFamily="18" charset="0"/>
                <a:cs typeface="Times New Roman" panose="02020603050405020304" pitchFamily="18" charset="0"/>
              </a:rPr>
              <a:t>CyberGraph</a:t>
            </a:r>
            <a:r>
              <a:rPr lang="en-IN" sz="2000" b="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system uses a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b="1" dirty="0">
                <a:latin typeface="Times New Roman" panose="02020603050405020304" pitchFamily="18" charset="0"/>
                <a:cs typeface="Times New Roman" panose="02020603050405020304" pitchFamily="18" charset="0"/>
              </a:rPr>
              <a:t> Transformer</a:t>
            </a:r>
            <a:r>
              <a:rPr lang="en-IN" sz="2000" dirty="0">
                <a:latin typeface="Times New Roman" panose="02020603050405020304" pitchFamily="18" charset="0"/>
                <a:cs typeface="Times New Roman" panose="02020603050405020304" pitchFamily="18" charset="0"/>
              </a:rPr>
              <a:t>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multilingual and code-mixed cybersecurity reports. The extracted entities such as </a:t>
            </a:r>
            <a:r>
              <a:rPr lang="en-IN" sz="2000" b="1" dirty="0">
                <a:latin typeface="Times New Roman" panose="02020603050405020304" pitchFamily="18" charset="0"/>
                <a:cs typeface="Times New Roman" panose="02020603050405020304" pitchFamily="18" charset="0"/>
              </a:rPr>
              <a:t>threat actors, malware, CVEs, IPs, and </a:t>
            </a:r>
            <a:r>
              <a:rPr lang="en-IN" sz="2000" b="1" dirty="0" err="1">
                <a:latin typeface="Times New Roman" panose="02020603050405020304" pitchFamily="18" charset="0"/>
                <a:cs typeface="Times New Roman" panose="02020603050405020304" pitchFamily="18" charset="0"/>
              </a:rPr>
              <a:t>IoCs</a:t>
            </a:r>
            <a:r>
              <a:rPr lang="en-IN" sz="2000" dirty="0">
                <a:latin typeface="Times New Roman" panose="02020603050405020304" pitchFamily="18" charset="0"/>
                <a:cs typeface="Times New Roman" panose="02020603050405020304" pitchFamily="18" charset="0"/>
              </a:rPr>
              <a:t> are processed through </a:t>
            </a:r>
            <a:r>
              <a:rPr lang="en-IN" sz="2000" b="1" dirty="0">
                <a:latin typeface="Times New Roman" panose="02020603050405020304" pitchFamily="18" charset="0"/>
                <a:cs typeface="Times New Roman" panose="02020603050405020304" pitchFamily="18" charset="0"/>
              </a:rPr>
              <a:t>relation extraction</a:t>
            </a:r>
            <a:r>
              <a:rPr lang="en-IN" sz="2000" dirty="0">
                <a:latin typeface="Times New Roman" panose="02020603050405020304" pitchFamily="18" charset="0"/>
                <a:cs typeface="Times New Roman" panose="02020603050405020304" pitchFamily="18" charset="0"/>
              </a:rPr>
              <a:t> to identify connections between threats. These entities and relationships are then stored in a </a:t>
            </a:r>
            <a:r>
              <a:rPr lang="en-IN" sz="2000" b="1" dirty="0">
                <a:latin typeface="Times New Roman" panose="02020603050405020304" pitchFamily="18" charset="0"/>
                <a:cs typeface="Times New Roman" panose="02020603050405020304" pitchFamily="18" charset="0"/>
              </a:rPr>
              <a:t>Neo4j Knowledge Graph</a:t>
            </a:r>
            <a:r>
              <a:rPr lang="en-IN" sz="2000" dirty="0">
                <a:latin typeface="Times New Roman" panose="02020603050405020304" pitchFamily="18" charset="0"/>
                <a:cs typeface="Times New Roman" panose="02020603050405020304" pitchFamily="18" charset="0"/>
              </a:rPr>
              <a:t> for threat correlation and visualization. Finally, a web-based dashboard provides </a:t>
            </a:r>
            <a:r>
              <a:rPr lang="en-IN" sz="2000" b="1" dirty="0">
                <a:latin typeface="Times New Roman" panose="02020603050405020304" pitchFamily="18" charset="0"/>
                <a:cs typeface="Times New Roman" panose="02020603050405020304" pitchFamily="18" charset="0"/>
              </a:rPr>
              <a:t>threat analysis, campaign discovery, and attack relationship visualization</a:t>
            </a:r>
            <a:r>
              <a:rPr lang="en-IN" sz="2000" dirty="0">
                <a:latin typeface="Times New Roman" panose="02020603050405020304" pitchFamily="18" charset="0"/>
                <a:cs typeface="Times New Roman" panose="02020603050405020304" pitchFamily="18" charset="0"/>
              </a:rPr>
              <a:t> for cybersecurity analysts.</a:t>
            </a:r>
          </a:p>
        </p:txBody>
      </p:sp>
      <p:sp>
        <p:nvSpPr>
          <p:cNvPr id="4" name="Date Placeholder 3">
            <a:extLst>
              <a:ext uri="{FF2B5EF4-FFF2-40B4-BE49-F238E27FC236}">
                <a16:creationId xmlns:a16="http://schemas.microsoft.com/office/drawing/2014/main" id="{359C2E59-4BE3-AD13-7130-D0376DB91B68}"/>
              </a:ext>
            </a:extLst>
          </p:cNvPr>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a:extLst>
              <a:ext uri="{FF2B5EF4-FFF2-40B4-BE49-F238E27FC236}">
                <a16:creationId xmlns:a16="http://schemas.microsoft.com/office/drawing/2014/main" id="{AA7CF1BF-4C0C-31A7-D842-1B8FB080C8A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C78D6D60-A417-1595-A28F-6C4844ABD47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272087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DD8154A-9562-A1C4-E7D1-4838F4EC2B31}"/>
              </a:ext>
            </a:extLst>
          </p:cNvPr>
          <p:cNvSpPr>
            <a:spLocks noGrp="1"/>
          </p:cNvSpPr>
          <p:nvPr>
            <p:ph type="title"/>
          </p:nvPr>
        </p:nvSpPr>
        <p:spPr/>
        <p:txBody>
          <a:bodyPr>
            <a:normAutofit/>
          </a:bodyPr>
          <a:lstStyle/>
          <a:p>
            <a:r>
              <a:rPr lang="en-IN" sz="3500" b="1" dirty="0">
                <a:latin typeface="Times New Roman" panose="02020603050405020304" pitchFamily="18" charset="0"/>
                <a:cs typeface="Times New Roman" panose="02020603050405020304" pitchFamily="18" charset="0"/>
              </a:rPr>
              <a:t>Work Flow</a:t>
            </a:r>
          </a:p>
        </p:txBody>
      </p:sp>
      <p:sp>
        <p:nvSpPr>
          <p:cNvPr id="4" name="Date Placeholder 3">
            <a:extLst>
              <a:ext uri="{FF2B5EF4-FFF2-40B4-BE49-F238E27FC236}">
                <a16:creationId xmlns:a16="http://schemas.microsoft.com/office/drawing/2014/main" id="{4A4CD180-7910-6579-0EEE-113E86A024D1}"/>
              </a:ext>
            </a:extLst>
          </p:cNvPr>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a:extLst>
              <a:ext uri="{FF2B5EF4-FFF2-40B4-BE49-F238E27FC236}">
                <a16:creationId xmlns:a16="http://schemas.microsoft.com/office/drawing/2014/main" id="{60BAA1A6-00AF-CBDF-D545-566AE4DA2BB4}"/>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F13A334-6ABE-0A61-A634-0225F5595A51}"/>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10" name="Content Placeholder 9">
            <a:extLst>
              <a:ext uri="{FF2B5EF4-FFF2-40B4-BE49-F238E27FC236}">
                <a16:creationId xmlns:a16="http://schemas.microsoft.com/office/drawing/2014/main" id="{BB552948-5E68-3185-D254-7C777311DCC1}"/>
              </a:ext>
            </a:extLst>
          </p:cNvPr>
          <p:cNvPicPr>
            <a:picLocks noGrp="1" noChangeAspect="1"/>
          </p:cNvPicPr>
          <p:nvPr>
            <p:ph idx="4294967295"/>
          </p:nvPr>
        </p:nvPicPr>
        <p:blipFill>
          <a:blip r:embed="rId2"/>
          <a:stretch>
            <a:fillRect/>
          </a:stretch>
        </p:blipFill>
        <p:spPr>
          <a:xfrm>
            <a:off x="3474720" y="1690688"/>
            <a:ext cx="4772025" cy="4351338"/>
          </a:xfrm>
          <a:prstGeom prst="rect">
            <a:avLst/>
          </a:prstGeom>
        </p:spPr>
      </p:pic>
    </p:spTree>
    <p:extLst>
      <p:ext uri="{BB962C8B-B14F-4D97-AF65-F5344CB8AC3E}">
        <p14:creationId xmlns:p14="http://schemas.microsoft.com/office/powerpoint/2010/main" val="365141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B0C2-0C51-0B84-4EC3-95719AE61B7F}"/>
              </a:ext>
            </a:extLst>
          </p:cNvPr>
          <p:cNvSpPr>
            <a:spLocks noGrp="1"/>
          </p:cNvSpPr>
          <p:nvPr>
            <p:ph type="title"/>
          </p:nvPr>
        </p:nvSpPr>
        <p:spPr/>
        <p:txBody>
          <a:bodyPr>
            <a:normAutofit/>
          </a:bodyPr>
          <a:lstStyle/>
          <a:p>
            <a:r>
              <a:rPr lang="en-IN" sz="3500" dirty="0">
                <a:latin typeface="Times New Roman" panose="02020603050405020304" pitchFamily="18" charset="0"/>
                <a:cs typeface="Times New Roman" panose="02020603050405020304" pitchFamily="18" charset="0"/>
              </a:rPr>
              <a:t>Conclusion:</a:t>
            </a:r>
            <a:endParaRPr lang="en-IN" sz="3500" dirty="0"/>
          </a:p>
        </p:txBody>
      </p:sp>
      <p:sp>
        <p:nvSpPr>
          <p:cNvPr id="3" name="Content Placeholder 2">
            <a:extLst>
              <a:ext uri="{FF2B5EF4-FFF2-40B4-BE49-F238E27FC236}">
                <a16:creationId xmlns:a16="http://schemas.microsoft.com/office/drawing/2014/main" id="{CD90FE3F-1963-FCCA-517B-0E22C49C0132}"/>
              </a:ext>
            </a:extLst>
          </p:cNvPr>
          <p:cNvSpPr>
            <a:spLocks noGrp="1"/>
          </p:cNvSpPr>
          <p:nvPr>
            <p:ph idx="1"/>
          </p:nvPr>
        </p:nvSpPr>
        <p:spPr>
          <a:xfrm>
            <a:off x="838200" y="1756611"/>
            <a:ext cx="10046368" cy="3392905"/>
          </a:xfrm>
        </p:spPr>
        <p:txBody>
          <a:bodyPr>
            <a:normAutofit/>
          </a:bodyPr>
          <a:lstStyle/>
          <a:p>
            <a:r>
              <a:rPr lang="en-IN" sz="2000" b="1" dirty="0" err="1">
                <a:latin typeface="Times New Roman" panose="02020603050405020304" pitchFamily="18" charset="0"/>
                <a:cs typeface="Times New Roman" panose="02020603050405020304" pitchFamily="18" charset="0"/>
              </a:rPr>
              <a:t>CyberGraph</a:t>
            </a:r>
            <a:r>
              <a:rPr lang="en-IN" sz="2000" b="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provides an intelligent approach to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multilingual and code-mixed cyber threat reports using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dirty="0">
                <a:latin typeface="Times New Roman" panose="02020603050405020304" pitchFamily="18" charset="0"/>
                <a:cs typeface="Times New Roman" panose="02020603050405020304" pitchFamily="18" charset="0"/>
              </a:rPr>
              <a:t>. The system automatically extracts cybersecurity entities, identifies relationships, and represents them through a </a:t>
            </a:r>
            <a:r>
              <a:rPr lang="en-IN" sz="2000" b="1" dirty="0">
                <a:latin typeface="Times New Roman" panose="02020603050405020304" pitchFamily="18" charset="0"/>
                <a:cs typeface="Times New Roman" panose="02020603050405020304" pitchFamily="18" charset="0"/>
              </a:rPr>
              <a:t>Neo4j Knowledge Graph</a:t>
            </a:r>
            <a:r>
              <a:rPr lang="en-IN" sz="2000" dirty="0">
                <a:latin typeface="Times New Roman" panose="02020603050405020304" pitchFamily="18" charset="0"/>
                <a:cs typeface="Times New Roman" panose="02020603050405020304" pitchFamily="18" charset="0"/>
              </a:rPr>
              <a:t>. It helps correlate threats, discover attack patterns, and reduce manual analysis for cybersecurity teams. The project demonstrates how </a:t>
            </a:r>
            <a:r>
              <a:rPr lang="en-IN" sz="2000" b="1" dirty="0">
                <a:latin typeface="Times New Roman" panose="02020603050405020304" pitchFamily="18" charset="0"/>
                <a:cs typeface="Times New Roman" panose="02020603050405020304" pitchFamily="18" charset="0"/>
              </a:rPr>
              <a:t>Transformer-based Text Analytics can be applied to real-world Cyber Threat Intelligence</a:t>
            </a:r>
            <a:r>
              <a:rPr lang="en-IN" sz="2000" dirty="0">
                <a:latin typeface="Times New Roman" panose="02020603050405020304" pitchFamily="18" charset="0"/>
                <a:cs typeface="Times New Roman" panose="02020603050405020304" pitchFamily="18" charset="0"/>
              </a:rPr>
              <a:t>, with potential for future integration with real-time threat feeds and predictive threat analysis.</a:t>
            </a:r>
          </a:p>
        </p:txBody>
      </p:sp>
      <p:sp>
        <p:nvSpPr>
          <p:cNvPr id="4" name="Date Placeholder 3">
            <a:extLst>
              <a:ext uri="{FF2B5EF4-FFF2-40B4-BE49-F238E27FC236}">
                <a16:creationId xmlns:a16="http://schemas.microsoft.com/office/drawing/2014/main" id="{252BB7BF-FC69-14FD-10E9-B9295DD31687}"/>
              </a:ext>
            </a:extLst>
          </p:cNvPr>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a:extLst>
              <a:ext uri="{FF2B5EF4-FFF2-40B4-BE49-F238E27FC236}">
                <a16:creationId xmlns:a16="http://schemas.microsoft.com/office/drawing/2014/main" id="{BD11ACD9-BBED-DB1B-DAC3-0CAB3BD2BA5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547264E9-7113-7455-62FD-CF478C628EBF}"/>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2244107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18-08-2026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662</Words>
  <Application>Microsoft Office PowerPoint</Application>
  <PresentationFormat>Widescreen</PresentationFormat>
  <Paragraphs>76</Paragraphs>
  <Slides>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Calibri</vt:lpstr>
      <vt:lpstr>Calibri Light</vt:lpstr>
      <vt:lpstr>Times New Roman</vt:lpstr>
      <vt:lpstr>Office Theme</vt:lpstr>
      <vt:lpstr>Custom Design</vt:lpstr>
      <vt:lpstr> APPLIED MACHINE LEARNING FOR TEXT ANALYTICS (24ALT3101) REVIEW – 1  Project Title</vt:lpstr>
      <vt:lpstr>OUTLINE</vt:lpstr>
      <vt:lpstr>Introduction</vt:lpstr>
      <vt:lpstr>Objectives </vt:lpstr>
      <vt:lpstr> Literature Survey </vt:lpstr>
      <vt:lpstr> Proposed Method </vt:lpstr>
      <vt:lpstr>Work Flow</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 1  Project Title</dc:title>
  <dc:creator>DELL</dc:creator>
  <cp:lastModifiedBy>Devendar Bandaru</cp:lastModifiedBy>
  <cp:revision>6</cp:revision>
  <dcterms:modified xsi:type="dcterms:W3CDTF">2026-08-18T08:49:46Z</dcterms:modified>
</cp:coreProperties>
</file>